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10" Type="http://schemas.openxmlformats.org/officeDocument/2006/relationships/image" Target="../media/image32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7.png"/><Relationship Id="rId5" Type="http://schemas.openxmlformats.org/officeDocument/2006/relationships/image" Target="../media/image33.png"/><Relationship Id="rId10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5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A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362608" y="9102332"/>
            <a:ext cx="530492" cy="336879"/>
            <a:chOff x="14362608" y="9102332"/>
            <a:chExt cx="530492" cy="33687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2608" y="9102332"/>
              <a:ext cx="530492" cy="33687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75150" y="4821106"/>
            <a:ext cx="3771027" cy="3771027"/>
            <a:chOff x="1375150" y="4821106"/>
            <a:chExt cx="3771027" cy="377102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150" y="4821106"/>
              <a:ext cx="3771027" cy="377102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38095" y="2589830"/>
            <a:ext cx="11656351" cy="19171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dirty="0">
                <a:solidFill>
                  <a:srgbClr val="FFFFFF"/>
                </a:solidFill>
                <a:latin typeface="Pretendard" pitchFamily="34" charset="0"/>
                <a:cs typeface="Pretendard" pitchFamily="34" charset="0"/>
              </a:rPr>
              <a:t>졸음운전 방지 시스템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1238095" y="2095500"/>
            <a:ext cx="8428571" cy="8000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dirty="0">
                <a:solidFill>
                  <a:srgbClr val="F4F4F4"/>
                </a:solidFill>
                <a:latin typeface="Pretendard SemiBold" pitchFamily="34" charset="0"/>
                <a:cs typeface="Pretendard SemiBold" pitchFamily="34" charset="0"/>
              </a:rPr>
              <a:t>4조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15037949" y="8959680"/>
            <a:ext cx="3014505" cy="6228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>
                <a:solidFill>
                  <a:srgbClr val="C2C2C2"/>
                </a:solidFill>
                <a:latin typeface="Pretendard" pitchFamily="34" charset="0"/>
                <a:cs typeface="Pretendard" pitchFamily="34" charset="0"/>
              </a:rPr>
              <a:t>MIRI Company</a:t>
            </a:r>
            <a:endParaRPr lang="en-US" dirty="0"/>
          </a:p>
        </p:txBody>
      </p:sp>
      <p:sp>
        <p:nvSpPr>
          <p:cNvPr id="11" name="Object 11"/>
          <p:cNvSpPr txBox="1"/>
          <p:nvPr/>
        </p:nvSpPr>
        <p:spPr>
          <a:xfrm>
            <a:off x="9186826" y="6591300"/>
            <a:ext cx="13215974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Regular" pitchFamily="34" charset="0"/>
              </a:rPr>
              <a:t>20201528 이상민</a:t>
            </a:r>
          </a:p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Regular" pitchFamily="34" charset="0"/>
              </a:rPr>
              <a:t>20221301 김예원</a:t>
            </a:r>
          </a:p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Regular" pitchFamily="34" charset="0"/>
              </a:rPr>
              <a:t>20221307 장세희</a:t>
            </a:r>
          </a:p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Regular" pitchFamily="34" charset="0"/>
              </a:rPr>
              <a:t>20221309 김성현</a:t>
            </a:r>
          </a:p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Regular" pitchFamily="34" charset="0"/>
              </a:rPr>
              <a:t>20221317 홍정민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38095" y="3567943"/>
            <a:ext cx="7428571" cy="13572"/>
            <a:chOff x="1238095" y="3567943"/>
            <a:chExt cx="7428571" cy="135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3567943"/>
              <a:ext cx="7428571" cy="1357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38095" y="5602095"/>
            <a:ext cx="7428571" cy="13572"/>
            <a:chOff x="1238095" y="5602095"/>
            <a:chExt cx="7428571" cy="1357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5602095"/>
              <a:ext cx="7428571" cy="1357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38095" y="7573624"/>
            <a:ext cx="7428571" cy="13572"/>
            <a:chOff x="1238095" y="7573624"/>
            <a:chExt cx="7428571" cy="1357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7573624"/>
              <a:ext cx="7428571" cy="1357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619048" y="3567943"/>
            <a:ext cx="7428571" cy="13572"/>
            <a:chOff x="9619048" y="3567943"/>
            <a:chExt cx="7428571" cy="1357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9048" y="3567943"/>
              <a:ext cx="7428571" cy="1357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619048" y="5602095"/>
            <a:ext cx="7428571" cy="13572"/>
            <a:chOff x="9619048" y="5602095"/>
            <a:chExt cx="7428571" cy="1357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9048" y="5602095"/>
              <a:ext cx="7428571" cy="1357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619048" y="7573624"/>
            <a:ext cx="7428571" cy="13572"/>
            <a:chOff x="9619048" y="7573624"/>
            <a:chExt cx="7428571" cy="13572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9048" y="7573624"/>
              <a:ext cx="7428571" cy="1357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38095" y="3853380"/>
            <a:ext cx="1028571" cy="7352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21AFBF"/>
                </a:solidFill>
                <a:latin typeface="Pretendard" pitchFamily="34" charset="0"/>
                <a:cs typeface="Pretendard" pitchFamily="34" charset="0"/>
              </a:rPr>
              <a:t>01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1990476" y="3959392"/>
            <a:ext cx="597142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itchFamily="34" charset="0"/>
              </a:rPr>
              <a:t>주제 선정 이유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8095" y="5880390"/>
            <a:ext cx="1028571" cy="7495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21AFBF"/>
                </a:solidFill>
                <a:latin typeface="Pretendard" pitchFamily="34" charset="0"/>
                <a:cs typeface="Pretendard" pitchFamily="34" charset="0"/>
              </a:rPr>
              <a:t>02</a:t>
            </a:r>
            <a:endParaRPr lang="en-US" dirty="0"/>
          </a:p>
        </p:txBody>
      </p:sp>
      <p:sp>
        <p:nvSpPr>
          <p:cNvPr id="23" name="Object 23"/>
          <p:cNvSpPr txBox="1"/>
          <p:nvPr/>
        </p:nvSpPr>
        <p:spPr>
          <a:xfrm>
            <a:off x="1990476" y="5993540"/>
            <a:ext cx="597142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itchFamily="34" charset="0"/>
              </a:rPr>
              <a:t>기능 소개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38095" y="3868776"/>
            <a:ext cx="700000" cy="64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21AFBF"/>
                </a:solidFill>
                <a:latin typeface="Pretendard" pitchFamily="34" charset="0"/>
                <a:cs typeface="Pretendard" pitchFamily="34" charset="0"/>
              </a:rPr>
              <a:t>03</a:t>
            </a:r>
            <a:endParaRPr lang="en-US" dirty="0"/>
          </a:p>
        </p:txBody>
      </p:sp>
      <p:sp>
        <p:nvSpPr>
          <p:cNvPr id="25" name="Object 25"/>
          <p:cNvSpPr txBox="1"/>
          <p:nvPr/>
        </p:nvSpPr>
        <p:spPr>
          <a:xfrm>
            <a:off x="11252381" y="3928594"/>
            <a:ext cx="378571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기대효과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38095" y="6130230"/>
            <a:ext cx="1028571" cy="7495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21AFBF"/>
                </a:solidFill>
                <a:latin typeface="Pretendard" pitchFamily="34" charset="0"/>
                <a:cs typeface="Pretendard" pitchFamily="34" charset="0"/>
              </a:rPr>
              <a:t>04</a:t>
            </a:r>
            <a:endParaRPr lang="en-US" dirty="0"/>
          </a:p>
        </p:txBody>
      </p:sp>
      <p:sp>
        <p:nvSpPr>
          <p:cNvPr id="27" name="Object 27"/>
          <p:cNvSpPr txBox="1"/>
          <p:nvPr/>
        </p:nvSpPr>
        <p:spPr>
          <a:xfrm>
            <a:off x="11380952" y="6243380"/>
            <a:ext cx="597142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itchFamily="34" charset="0"/>
              </a:rPr>
              <a:t>준비물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1905" y="1015874"/>
            <a:ext cx="3742857" cy="1333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목차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38095" y="1253300"/>
            <a:ext cx="15809524" cy="14286"/>
            <a:chOff x="1238095" y="1253300"/>
            <a:chExt cx="15809524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1253300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371429" y="3127976"/>
            <a:ext cx="7156286" cy="5344568"/>
            <a:chOff x="9371429" y="3127976"/>
            <a:chExt cx="7156286" cy="534456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71429" y="3127976"/>
              <a:ext cx="7156286" cy="534456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52381" y="3127976"/>
            <a:ext cx="7152381" cy="4581994"/>
            <a:chOff x="1352381" y="3127976"/>
            <a:chExt cx="7152381" cy="458199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2381" y="3127976"/>
              <a:ext cx="7152381" cy="458199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38095" y="1245204"/>
            <a:ext cx="12200000" cy="1066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주제 선정 이유</a:t>
            </a:r>
            <a:endParaRPr lang="en-US" dirty="0"/>
          </a:p>
        </p:txBody>
      </p:sp>
      <p:sp>
        <p:nvSpPr>
          <p:cNvPr id="15" name="Object 15"/>
          <p:cNvSpPr txBox="1"/>
          <p:nvPr/>
        </p:nvSpPr>
        <p:spPr>
          <a:xfrm>
            <a:off x="1752381" y="8694184"/>
            <a:ext cx="24287076" cy="933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교통사고 원인의 상당 수가 </a:t>
            </a:r>
            <a:r>
              <a:rPr lang="en-US" sz="3500" b="1" dirty="0">
                <a:solidFill>
                  <a:srgbClr val="FC5230"/>
                </a:solidFill>
                <a:latin typeface="Pretendard" pitchFamily="34" charset="0"/>
                <a:cs typeface="Pretendard" pitchFamily="34" charset="0"/>
              </a:rPr>
              <a:t>졸음운전</a:t>
            </a:r>
            <a:r>
              <a:rPr lang="en-US" sz="3500" dirty="0">
                <a:solidFill>
                  <a:srgbClr val="FC5230"/>
                </a:solidFill>
                <a:latin typeface="Pretendard" pitchFamily="34" charset="0"/>
                <a:cs typeface="Pretendard" pitchFamily="34" charset="0"/>
              </a:rPr>
              <a:t> </a:t>
            </a:r>
            <a:r>
              <a:rPr lang="en-US" sz="35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   -&gt;     졸음 운전 예방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38095" y="1253300"/>
            <a:ext cx="15809524" cy="14286"/>
            <a:chOff x="1238095" y="1253300"/>
            <a:chExt cx="15809524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1253300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625418" y="4607741"/>
            <a:ext cx="2523465" cy="2523465"/>
            <a:chOff x="7625418" y="4607741"/>
            <a:chExt cx="2523465" cy="252346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5418" y="4607741"/>
              <a:ext cx="2523465" cy="252346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0675546" y="3453848"/>
            <a:ext cx="4831252" cy="4831252"/>
            <a:chOff x="10675546" y="3453848"/>
            <a:chExt cx="4831252" cy="483125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75546" y="3453848"/>
              <a:ext cx="4831252" cy="483125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38095" y="1245204"/>
            <a:ext cx="12200000" cy="1066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졸음 </a:t>
            </a:r>
            <a:r>
              <a:rPr lang="en-US" sz="4000" kern="0" spc="-100" dirty="0" err="1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운전</a:t>
            </a:r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 </a:t>
            </a:r>
            <a:r>
              <a:rPr lang="en-US" sz="4000" kern="0" spc="-100" dirty="0" err="1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이유</a:t>
            </a:r>
            <a:endParaRPr lang="en-US" dirty="0"/>
          </a:p>
        </p:txBody>
      </p:sp>
      <p:sp>
        <p:nvSpPr>
          <p:cNvPr id="15" name="Object 15"/>
          <p:cNvSpPr txBox="1"/>
          <p:nvPr/>
        </p:nvSpPr>
        <p:spPr>
          <a:xfrm>
            <a:off x="8787462" y="2673541"/>
            <a:ext cx="2265701" cy="1073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Pretendard" pitchFamily="34" charset="0"/>
                <a:cs typeface="Pretendard" pitchFamily="34" charset="0"/>
              </a:rPr>
              <a:t>항목</a:t>
            </a:r>
            <a:endParaRPr lang="en-US" dirty="0"/>
          </a:p>
        </p:txBody>
      </p:sp>
      <p:grpSp>
        <p:nvGrpSpPr>
          <p:cNvPr id="1005" name="그룹 1005"/>
          <p:cNvGrpSpPr/>
          <p:nvPr/>
        </p:nvGrpSpPr>
        <p:grpSpPr>
          <a:xfrm>
            <a:off x="1676190" y="3549086"/>
            <a:ext cx="5245572" cy="5092368"/>
            <a:chOff x="1676190" y="3549086"/>
            <a:chExt cx="5245572" cy="5092368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4686477" y="4656715"/>
              <a:ext cx="2235285" cy="2235285"/>
              <a:chOff x="4686477" y="4656715"/>
              <a:chExt cx="2235285" cy="2235285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686477" y="4656715"/>
                <a:ext cx="2235285" cy="2235285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3181334" y="3549086"/>
              <a:ext cx="2235285" cy="2235285"/>
              <a:chOff x="3181334" y="3549086"/>
              <a:chExt cx="2235285" cy="2235285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181334" y="3549086"/>
                <a:ext cx="2235285" cy="2235285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4052951" y="6406169"/>
              <a:ext cx="2235285" cy="2235285"/>
              <a:chOff x="4052951" y="6406169"/>
              <a:chExt cx="2235285" cy="2235285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052951" y="6406169"/>
                <a:ext cx="2235285" cy="2235285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2309717" y="6406169"/>
              <a:ext cx="2235285" cy="2235285"/>
              <a:chOff x="2309717" y="6406169"/>
              <a:chExt cx="2235285" cy="2235285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309717" y="6406169"/>
                <a:ext cx="2235285" cy="2235285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676190" y="4656715"/>
              <a:ext cx="2235285" cy="2235285"/>
              <a:chOff x="1676190" y="4656715"/>
              <a:chExt cx="2235285" cy="2235285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676190" y="4656715"/>
                <a:ext cx="2235285" cy="2235285"/>
              </a:xfrm>
              <a:prstGeom prst="rect">
                <a:avLst/>
              </a:prstGeom>
            </p:spPr>
          </p:pic>
        </p:grpSp>
        <p:sp>
          <p:nvSpPr>
            <p:cNvPr id="32" name="Object 32"/>
            <p:cNvSpPr txBox="1"/>
            <p:nvPr/>
          </p:nvSpPr>
          <p:spPr>
            <a:xfrm>
              <a:off x="5308270" y="4894941"/>
              <a:ext cx="1044767" cy="64750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kern="0" spc="-100" dirty="0">
                  <a:solidFill>
                    <a:srgbClr val="FFFFFF"/>
                  </a:solidFill>
                  <a:latin typeface="S-Core Dream 8 Heavy" pitchFamily="34" charset="0"/>
                  <a:cs typeface="S-Core Dream 8 Heavy" pitchFamily="34" charset="0"/>
                </a:rPr>
                <a:t>02</a:t>
              </a:r>
              <a:endParaRPr lang="en-US" dirty="0"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727811" y="6685720"/>
              <a:ext cx="1044767" cy="64750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kern="0" spc="-100" dirty="0">
                  <a:solidFill>
                    <a:srgbClr val="FFFFFF"/>
                  </a:solidFill>
                  <a:latin typeface="S-Core Dream 8 Heavy" pitchFamily="34" charset="0"/>
                  <a:cs typeface="S-Core Dream 8 Heavy" pitchFamily="34" charset="0"/>
                </a:rPr>
                <a:t>03</a:t>
              </a:r>
              <a:endParaRPr lang="en-US" dirty="0"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2904976" y="6685720"/>
              <a:ext cx="1044767" cy="64750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kern="0" spc="-100" dirty="0">
                  <a:solidFill>
                    <a:srgbClr val="FFFFFF"/>
                  </a:solidFill>
                  <a:latin typeface="S-Core Dream 8 Heavy" pitchFamily="34" charset="0"/>
                  <a:cs typeface="S-Core Dream 8 Heavy" pitchFamily="34" charset="0"/>
                </a:rPr>
                <a:t>04</a:t>
              </a:r>
              <a:endParaRPr lang="en-US" dirty="0"/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2271449" y="4894941"/>
              <a:ext cx="1044767" cy="64750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kern="0" spc="-100" dirty="0">
                  <a:solidFill>
                    <a:srgbClr val="FFFFFF"/>
                  </a:solidFill>
                  <a:latin typeface="S-Core Dream 8 Heavy" pitchFamily="34" charset="0"/>
                  <a:cs typeface="S-Core Dream 8 Heavy" pitchFamily="34" charset="0"/>
                </a:rPr>
                <a:t>05</a:t>
              </a:r>
              <a:endParaRPr lang="en-US" dirty="0"/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170233" y="4424133"/>
              <a:ext cx="1320842" cy="24498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중추 </a:t>
              </a: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신경</a:t>
              </a: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피로</a:t>
              </a:r>
              <a:endParaRPr lang="en-US" dirty="0"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4589773" y="6439028"/>
              <a:ext cx="1320842" cy="19789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감각 </a:t>
              </a: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둔화</a:t>
              </a:r>
              <a:endParaRPr lang="en-US" dirty="0"/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2133412" y="4424133"/>
              <a:ext cx="1320842" cy="24498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인지</a:t>
              </a: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지연</a:t>
              </a: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착오</a:t>
              </a:r>
              <a:endParaRPr lang="en-US" dirty="0"/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2766939" y="6439028"/>
              <a:ext cx="1320842" cy="19789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/>
            </a:p>
            <a:p>
              <a:pPr algn="ctr"/>
              <a:endParaRPr/>
            </a:p>
            <a:p>
              <a:pPr algn="ctr"/>
              <a:r>
                <a:rPr lang="en-US" sz="2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감각</a:t>
              </a:r>
            </a:p>
            <a:p>
              <a:pPr algn="ctr"/>
              <a:r>
                <a:rPr lang="en-US" sz="2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차단</a:t>
              </a:r>
              <a:endParaRPr lang="en-US" dirty="0"/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3638556" y="3321760"/>
              <a:ext cx="1320842" cy="24498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  </a:t>
              </a:r>
            </a:p>
            <a:p>
              <a:pPr algn="ctr"/>
              <a:endParaRPr lang="en-US" sz="2100" kern="0" spc="-100" dirty="0">
                <a:solidFill>
                  <a:srgbClr val="000000"/>
                </a:solidFill>
                <a:latin typeface="Gmarket Sans Bold" pitchFamily="34" charset="0"/>
                <a:cs typeface="Gmarket Sans Bold" pitchFamily="34" charset="0"/>
              </a:endParaRP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뇌의 </a:t>
              </a: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산소</a:t>
              </a:r>
            </a:p>
            <a:p>
              <a:pPr algn="ctr"/>
              <a:r>
                <a:rPr lang="en-US" sz="2100" kern="0" spc="-100" dirty="0">
                  <a:solidFill>
                    <a:srgbClr val="000000"/>
                  </a:solidFill>
                  <a:latin typeface="Gmarket Sans Bold" pitchFamily="34" charset="0"/>
                  <a:cs typeface="Gmarket Sans Bold" pitchFamily="34" charset="0"/>
                </a:rPr>
                <a:t>부족</a:t>
              </a:r>
              <a:endParaRPr lang="en-US" dirty="0"/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3776593" y="3772911"/>
              <a:ext cx="1044767" cy="64750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kern="0" spc="-100" dirty="0">
                  <a:solidFill>
                    <a:srgbClr val="FFFFFF"/>
                  </a:solidFill>
                  <a:latin typeface="S-Core Dream 8 Heavy" pitchFamily="34" charset="0"/>
                  <a:cs typeface="S-Core Dream 8 Heavy" pitchFamily="34" charset="0"/>
                </a:rPr>
                <a:t>01</a:t>
              </a:r>
              <a:endParaRPr lang="en-US" dirty="0"/>
            </a:p>
          </p:txBody>
        </p:sp>
        <p:grpSp>
          <p:nvGrpSpPr>
            <p:cNvPr id="1011" name="그룹 1011"/>
            <p:cNvGrpSpPr/>
            <p:nvPr/>
          </p:nvGrpSpPr>
          <p:grpSpPr>
            <a:xfrm>
              <a:off x="5017197" y="4518304"/>
              <a:ext cx="658659" cy="326083"/>
              <a:chOff x="5017197" y="4518304"/>
              <a:chExt cx="658659" cy="326083"/>
            </a:xfrm>
          </p:grpSpPr>
          <p:pic>
            <p:nvPicPr>
              <p:cNvPr id="43" name="Object 42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8040000">
                <a:off x="5017197" y="4518304"/>
                <a:ext cx="658659" cy="326083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5765700" y="6693501"/>
              <a:ext cx="658659" cy="326083"/>
              <a:chOff x="5765700" y="6693501"/>
              <a:chExt cx="658659" cy="326083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3840000">
                <a:off x="5765700" y="6693501"/>
                <a:ext cx="658659" cy="326083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3969647" y="8053891"/>
              <a:ext cx="658659" cy="326083"/>
              <a:chOff x="3969647" y="8053891"/>
              <a:chExt cx="658659" cy="326083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120000">
                <a:off x="3969647" y="8053891"/>
                <a:ext cx="658659" cy="326083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2186374" y="6693501"/>
              <a:ext cx="658659" cy="326083"/>
              <a:chOff x="2186374" y="6693501"/>
              <a:chExt cx="658659" cy="326083"/>
            </a:xfrm>
          </p:grpSpPr>
          <p:pic>
            <p:nvPicPr>
              <p:cNvPr id="52" name="Object 5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3960000">
                <a:off x="2186374" y="6693501"/>
                <a:ext cx="658659" cy="326083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2845083" y="4518304"/>
              <a:ext cx="658659" cy="326083"/>
              <a:chOff x="2845083" y="4518304"/>
              <a:chExt cx="658659" cy="326083"/>
            </a:xfrm>
          </p:grpSpPr>
          <p:pic>
            <p:nvPicPr>
              <p:cNvPr id="55" name="Object 54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2900000">
                <a:off x="2845083" y="4518304"/>
                <a:ext cx="658659" cy="32608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38095" y="1253300"/>
            <a:ext cx="15809524" cy="14286"/>
            <a:chOff x="1238095" y="1253300"/>
            <a:chExt cx="15809524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1253300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38095" y="1245207"/>
            <a:ext cx="12200000" cy="1066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기능 소개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4557965" y="2967350"/>
            <a:ext cx="9169784" cy="6423185"/>
            <a:chOff x="4557965" y="2967350"/>
            <a:chExt cx="9169784" cy="6423185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4933656" y="2967350"/>
              <a:ext cx="8794093" cy="1354021"/>
              <a:chOff x="4933656" y="2967350"/>
              <a:chExt cx="8794093" cy="1354021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33656" y="2967350"/>
                <a:ext cx="8794093" cy="1354021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4933656" y="4646905"/>
              <a:ext cx="8794093" cy="1354021"/>
              <a:chOff x="4933656" y="4646905"/>
              <a:chExt cx="8794093" cy="1354021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33656" y="4646905"/>
                <a:ext cx="8794093" cy="1354021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933656" y="6355521"/>
              <a:ext cx="8794093" cy="1354021"/>
              <a:chOff x="4933656" y="6355521"/>
              <a:chExt cx="8794093" cy="1354021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33656" y="6355521"/>
                <a:ext cx="8794093" cy="1354021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4933656" y="8036514"/>
              <a:ext cx="8794093" cy="1354021"/>
              <a:chOff x="4933656" y="8036514"/>
              <a:chExt cx="8794093" cy="1354021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933656" y="8036514"/>
                <a:ext cx="8794093" cy="1354021"/>
              </a:xfrm>
              <a:prstGeom prst="rect">
                <a:avLst/>
              </a:prstGeom>
            </p:spPr>
          </p:pic>
        </p:grpSp>
        <p:sp>
          <p:nvSpPr>
            <p:cNvPr id="22" name="Object 22"/>
            <p:cNvSpPr txBox="1"/>
            <p:nvPr/>
          </p:nvSpPr>
          <p:spPr>
            <a:xfrm>
              <a:off x="3933220" y="3192938"/>
              <a:ext cx="10928705" cy="8859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300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카메라 눈 감김 감지</a:t>
              </a:r>
              <a:endParaRPr lang="en-US" dirty="0"/>
            </a:p>
          </p:txBody>
        </p:sp>
        <p:grpSp>
          <p:nvGrpSpPr>
            <p:cNvPr id="1008" name="그룹 1008"/>
            <p:cNvGrpSpPr/>
            <p:nvPr/>
          </p:nvGrpSpPr>
          <p:grpSpPr>
            <a:xfrm>
              <a:off x="4557965" y="3161203"/>
              <a:ext cx="967873" cy="967873"/>
              <a:chOff x="4557965" y="3161203"/>
              <a:chExt cx="967873" cy="967873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557965" y="3161203"/>
                <a:ext cx="967873" cy="967873"/>
              </a:xfrm>
              <a:prstGeom prst="rect">
                <a:avLst/>
              </a:prstGeom>
            </p:spPr>
          </p:pic>
        </p:grpSp>
        <p:sp>
          <p:nvSpPr>
            <p:cNvPr id="26" name="Object 26"/>
            <p:cNvSpPr txBox="1"/>
            <p:nvPr/>
          </p:nvSpPr>
          <p:spPr>
            <a:xfrm>
              <a:off x="4484239" y="3158029"/>
              <a:ext cx="1115326" cy="9097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800" b="1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01</a:t>
              </a:r>
              <a:endParaRPr lang="en-US" dirty="0"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3933220" y="4854874"/>
              <a:ext cx="10928705" cy="8859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300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창문 자동 개방</a:t>
              </a:r>
              <a:endParaRPr lang="en-US" dirty="0"/>
            </a:p>
          </p:txBody>
        </p:sp>
        <p:grpSp>
          <p:nvGrpSpPr>
            <p:cNvPr id="1009" name="그룹 1009"/>
            <p:cNvGrpSpPr/>
            <p:nvPr/>
          </p:nvGrpSpPr>
          <p:grpSpPr>
            <a:xfrm>
              <a:off x="4557965" y="4830099"/>
              <a:ext cx="967873" cy="967873"/>
              <a:chOff x="4557965" y="4830099"/>
              <a:chExt cx="967873" cy="967873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557965" y="4830099"/>
                <a:ext cx="967873" cy="967873"/>
              </a:xfrm>
              <a:prstGeom prst="rect">
                <a:avLst/>
              </a:prstGeom>
            </p:spPr>
          </p:pic>
        </p:grpSp>
        <p:sp>
          <p:nvSpPr>
            <p:cNvPr id="31" name="Object 31"/>
            <p:cNvSpPr txBox="1"/>
            <p:nvPr/>
          </p:nvSpPr>
          <p:spPr>
            <a:xfrm>
              <a:off x="4475252" y="4826925"/>
              <a:ext cx="1115326" cy="9097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800" b="1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02</a:t>
              </a:r>
              <a:endParaRPr lang="en-US" dirty="0"/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3933220" y="6570223"/>
              <a:ext cx="10928705" cy="8853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300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핸들과 등받이에 진동 </a:t>
              </a:r>
              <a:endParaRPr lang="en-US" dirty="0"/>
            </a:p>
          </p:txBody>
        </p:sp>
        <p:grpSp>
          <p:nvGrpSpPr>
            <p:cNvPr id="1010" name="그룹 1010"/>
            <p:cNvGrpSpPr/>
            <p:nvPr/>
          </p:nvGrpSpPr>
          <p:grpSpPr>
            <a:xfrm>
              <a:off x="4557965" y="6545137"/>
              <a:ext cx="967873" cy="967873"/>
              <a:chOff x="4557965" y="6545137"/>
              <a:chExt cx="967873" cy="967873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557965" y="6545137"/>
                <a:ext cx="967873" cy="967873"/>
              </a:xfrm>
              <a:prstGeom prst="rect">
                <a:avLst/>
              </a:prstGeom>
            </p:spPr>
          </p:pic>
        </p:grpSp>
        <p:sp>
          <p:nvSpPr>
            <p:cNvPr id="36" name="Object 36"/>
            <p:cNvSpPr txBox="1"/>
            <p:nvPr/>
          </p:nvSpPr>
          <p:spPr>
            <a:xfrm>
              <a:off x="4475252" y="6541963"/>
              <a:ext cx="1115326" cy="9097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800" b="1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03</a:t>
              </a:r>
              <a:endParaRPr lang="en-US" dirty="0"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3933220" y="8257328"/>
              <a:ext cx="10928705" cy="8859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300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경고음 발생</a:t>
              </a:r>
              <a:endParaRPr lang="en-US" dirty="0"/>
            </a:p>
          </p:txBody>
        </p:sp>
        <p:grpSp>
          <p:nvGrpSpPr>
            <p:cNvPr id="1011" name="그룹 1011"/>
            <p:cNvGrpSpPr/>
            <p:nvPr/>
          </p:nvGrpSpPr>
          <p:grpSpPr>
            <a:xfrm>
              <a:off x="4557965" y="8232552"/>
              <a:ext cx="967873" cy="967873"/>
              <a:chOff x="4557965" y="8232552"/>
              <a:chExt cx="967873" cy="967873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557965" y="8232552"/>
                <a:ext cx="967873" cy="967873"/>
              </a:xfrm>
              <a:prstGeom prst="rect">
                <a:avLst/>
              </a:prstGeom>
            </p:spPr>
          </p:pic>
        </p:grpSp>
        <p:sp>
          <p:nvSpPr>
            <p:cNvPr id="41" name="Object 41"/>
            <p:cNvSpPr txBox="1"/>
            <p:nvPr/>
          </p:nvSpPr>
          <p:spPr>
            <a:xfrm>
              <a:off x="4475252" y="8229378"/>
              <a:ext cx="1115326" cy="9097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800" b="1" kern="0" spc="-200" dirty="0">
                  <a:solidFill>
                    <a:srgbClr val="2E260F"/>
                  </a:solidFill>
                  <a:latin typeface="locus_sangsang" pitchFamily="34" charset="0"/>
                  <a:cs typeface="locus_sangsang" pitchFamily="34" charset="0"/>
                </a:rPr>
                <a:t>04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495088" y="4581795"/>
            <a:ext cx="1998316" cy="1998316"/>
            <a:chOff x="3495088" y="4581795"/>
            <a:chExt cx="1998316" cy="199831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5088" y="4581795"/>
              <a:ext cx="1998316" cy="199831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38095" y="1029757"/>
            <a:ext cx="6512301" cy="5807299"/>
            <a:chOff x="1238095" y="1029757"/>
            <a:chExt cx="6512301" cy="580729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095" y="1029757"/>
              <a:ext cx="6512301" cy="580729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00000" y="3376970"/>
            <a:ext cx="17475055" cy="6920174"/>
            <a:chOff x="1200000" y="3376970"/>
            <a:chExt cx="17475055" cy="692017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0000" y="3376970"/>
              <a:ext cx="17475055" cy="692017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38095" y="1029757"/>
            <a:ext cx="15809524" cy="14286"/>
            <a:chOff x="1238095" y="1029757"/>
            <a:chExt cx="15809524" cy="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095" y="1029757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197275" y="7951771"/>
            <a:ext cx="2553121" cy="2553121"/>
            <a:chOff x="5197275" y="7951771"/>
            <a:chExt cx="2553121" cy="255312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7275" y="7951771"/>
              <a:ext cx="2553121" cy="255312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411644" y="7814513"/>
            <a:ext cx="3085714" cy="3085714"/>
            <a:chOff x="8411644" y="7814513"/>
            <a:chExt cx="3085714" cy="308571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11644" y="7814513"/>
              <a:ext cx="3085714" cy="308571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238095" y="1121397"/>
            <a:ext cx="20941905" cy="1066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기어가 D상태 이면, 카메라로 운전자 눈 인식</a:t>
            </a:r>
            <a:endParaRPr lang="en-US" dirty="0"/>
          </a:p>
        </p:txBody>
      </p:sp>
      <p:grpSp>
        <p:nvGrpSpPr>
          <p:cNvPr id="1008" name="그룹 1008"/>
          <p:cNvGrpSpPr/>
          <p:nvPr/>
        </p:nvGrpSpPr>
        <p:grpSpPr>
          <a:xfrm>
            <a:off x="9838588" y="5017572"/>
            <a:ext cx="1738270" cy="1829160"/>
            <a:chOff x="9838588" y="5017572"/>
            <a:chExt cx="1738270" cy="182916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38588" y="5017572"/>
              <a:ext cx="1738270" cy="182916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8330019" y="4952381"/>
            <a:ext cx="1862173" cy="1959541"/>
            <a:chOff x="8330019" y="4952381"/>
            <a:chExt cx="1862173" cy="1959541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30019" y="4952381"/>
              <a:ext cx="1862173" cy="19595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495088" y="4581795"/>
            <a:ext cx="1998316" cy="1998316"/>
            <a:chOff x="3495088" y="4581795"/>
            <a:chExt cx="1998316" cy="199831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5088" y="4581795"/>
              <a:ext cx="1998316" cy="199831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00000" y="3376970"/>
            <a:ext cx="17475055" cy="6920174"/>
            <a:chOff x="1200000" y="3376970"/>
            <a:chExt cx="17475055" cy="692017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0000" y="3376970"/>
              <a:ext cx="17475055" cy="692017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38095" y="1029757"/>
            <a:ext cx="6512301" cy="5807299"/>
            <a:chOff x="1238095" y="1029757"/>
            <a:chExt cx="6512301" cy="580729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095" y="1029757"/>
              <a:ext cx="6512301" cy="580729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197275" y="7951771"/>
            <a:ext cx="2553121" cy="2553121"/>
            <a:chOff x="5197275" y="7951771"/>
            <a:chExt cx="2553121" cy="255312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7275" y="7951771"/>
              <a:ext cx="2553121" cy="255312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411644" y="7814513"/>
            <a:ext cx="3085714" cy="3085714"/>
            <a:chOff x="8411644" y="7814513"/>
            <a:chExt cx="3085714" cy="3085714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11644" y="7814513"/>
              <a:ext cx="3085714" cy="308571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95238" y="1102350"/>
            <a:ext cx="20406674" cy="1066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눈 크기의 감소가 1초 이상 지속 시 졸음운전 감지</a:t>
            </a:r>
            <a:endParaRPr lang="en-US" dirty="0"/>
          </a:p>
        </p:txBody>
      </p:sp>
      <p:grpSp>
        <p:nvGrpSpPr>
          <p:cNvPr id="1007" name="그룹 1007"/>
          <p:cNvGrpSpPr/>
          <p:nvPr/>
        </p:nvGrpSpPr>
        <p:grpSpPr>
          <a:xfrm>
            <a:off x="10058070" y="5142857"/>
            <a:ext cx="1251723" cy="1251723"/>
            <a:chOff x="10058070" y="5142857"/>
            <a:chExt cx="1251723" cy="1251723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58070" y="5142857"/>
              <a:ext cx="1251723" cy="125172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6033" y="5142857"/>
            <a:ext cx="1277702" cy="1277702"/>
            <a:chOff x="8636033" y="5142857"/>
            <a:chExt cx="1277702" cy="1277702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6033" y="5142857"/>
              <a:ext cx="1277702" cy="127770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238095" y="1029757"/>
            <a:ext cx="15809524" cy="14286"/>
            <a:chOff x="1238095" y="1029757"/>
            <a:chExt cx="15809524" cy="14286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095" y="1029757"/>
              <a:ext cx="15809524" cy="142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495088" y="4581795"/>
            <a:ext cx="1998316" cy="1998316"/>
            <a:chOff x="3495088" y="4581795"/>
            <a:chExt cx="1998316" cy="199831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5088" y="4581795"/>
              <a:ext cx="1998316" cy="199831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00000" y="3376970"/>
            <a:ext cx="17475055" cy="6920174"/>
            <a:chOff x="1200000" y="3376970"/>
            <a:chExt cx="17475055" cy="692017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0000" y="3376970"/>
              <a:ext cx="17475055" cy="692017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38095" y="1029757"/>
            <a:ext cx="6512301" cy="5807299"/>
            <a:chOff x="1238095" y="1029757"/>
            <a:chExt cx="6512301" cy="580729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095" y="1029757"/>
              <a:ext cx="6512301" cy="580729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197275" y="7951771"/>
            <a:ext cx="2553121" cy="2553121"/>
            <a:chOff x="5197275" y="7951771"/>
            <a:chExt cx="2553121" cy="255312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7275" y="7951771"/>
              <a:ext cx="2553121" cy="255312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411644" y="7814513"/>
            <a:ext cx="3085714" cy="3085714"/>
            <a:chOff x="8411644" y="7814513"/>
            <a:chExt cx="3085714" cy="3085714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11644" y="7814513"/>
              <a:ext cx="3085714" cy="308571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058070" y="5142857"/>
            <a:ext cx="1251723" cy="1251723"/>
            <a:chOff x="10058070" y="5142857"/>
            <a:chExt cx="1251723" cy="125172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58070" y="5142857"/>
              <a:ext cx="1251723" cy="125172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6033" y="5142857"/>
            <a:ext cx="1277702" cy="1277702"/>
            <a:chOff x="8636033" y="5142857"/>
            <a:chExt cx="1277702" cy="127770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6033" y="5142857"/>
              <a:ext cx="1277702" cy="127770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38095" y="1124578"/>
            <a:ext cx="16957143" cy="1066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창문을 자동으로 개방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2601254" y="5945400"/>
            <a:ext cx="2607240" cy="2607240"/>
            <a:chOff x="2601254" y="5945400"/>
            <a:chExt cx="2607240" cy="260724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1254" y="5945400"/>
              <a:ext cx="2607240" cy="260724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4945141" y="5840638"/>
            <a:ext cx="2607240" cy="2607240"/>
            <a:chOff x="14945141" y="5840638"/>
            <a:chExt cx="2607240" cy="260724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10800000">
              <a:off x="14945141" y="5840638"/>
              <a:ext cx="2607240" cy="260724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38095" y="1029757"/>
            <a:ext cx="15809524" cy="14286"/>
            <a:chOff x="1238095" y="1029757"/>
            <a:chExt cx="15809524" cy="14286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095" y="1029757"/>
              <a:ext cx="15809524" cy="142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495088" y="4581795"/>
            <a:ext cx="1998316" cy="1998316"/>
            <a:chOff x="3495088" y="4581795"/>
            <a:chExt cx="1998316" cy="199831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5088" y="4581795"/>
              <a:ext cx="1998316" cy="199831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00000" y="3376970"/>
            <a:ext cx="17475055" cy="6920174"/>
            <a:chOff x="1200000" y="3376970"/>
            <a:chExt cx="17475055" cy="692017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0000" y="3376970"/>
              <a:ext cx="17475055" cy="692017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396652" y="6723090"/>
            <a:ext cx="1360007" cy="2609743"/>
            <a:chOff x="11396652" y="6723090"/>
            <a:chExt cx="1360007" cy="260974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560000">
              <a:off x="11396652" y="6723090"/>
              <a:ext cx="1360007" cy="26097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223709" y="6834537"/>
            <a:ext cx="1243851" cy="2386849"/>
            <a:chOff x="7223709" y="6834537"/>
            <a:chExt cx="1243851" cy="238684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2480000">
              <a:off x="7223709" y="6834537"/>
              <a:ext cx="1243851" cy="238684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38095" y="1029757"/>
            <a:ext cx="6512301" cy="5807299"/>
            <a:chOff x="1238095" y="1029757"/>
            <a:chExt cx="6512301" cy="580729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8095" y="1029757"/>
              <a:ext cx="6512301" cy="580729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5197275" y="7951771"/>
            <a:ext cx="2553121" cy="2553121"/>
            <a:chOff x="5197275" y="7951771"/>
            <a:chExt cx="2553121" cy="2553121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7275" y="7951771"/>
              <a:ext cx="2553121" cy="255312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058070" y="5142857"/>
            <a:ext cx="1251723" cy="1251723"/>
            <a:chOff x="10058070" y="5142857"/>
            <a:chExt cx="1251723" cy="1251723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58070" y="5142857"/>
              <a:ext cx="1251723" cy="125172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8636033" y="5142857"/>
            <a:ext cx="1277702" cy="1277702"/>
            <a:chOff x="8636033" y="5142857"/>
            <a:chExt cx="1277702" cy="1277702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36033" y="5142857"/>
              <a:ext cx="1277702" cy="127770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8411644" y="7814513"/>
            <a:ext cx="3085714" cy="3085714"/>
            <a:chOff x="8411644" y="7814513"/>
            <a:chExt cx="3085714" cy="3085714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11644" y="7814513"/>
              <a:ext cx="3085714" cy="308571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38095" y="1029757"/>
            <a:ext cx="15809524" cy="14286"/>
            <a:chOff x="1238095" y="1029757"/>
            <a:chExt cx="15809524" cy="14286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095" y="1029757"/>
              <a:ext cx="15809524" cy="14286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238095" y="1140445"/>
            <a:ext cx="12200000" cy="1066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핸들과 등받이에 진동 발생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495088" y="4581795"/>
            <a:ext cx="1998316" cy="1998316"/>
            <a:chOff x="3495088" y="4581795"/>
            <a:chExt cx="1998316" cy="199831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5088" y="4581795"/>
              <a:ext cx="1998316" cy="199831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00000" y="3376970"/>
            <a:ext cx="17475055" cy="6920174"/>
            <a:chOff x="1200000" y="3376970"/>
            <a:chExt cx="17475055" cy="692017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0000" y="3376970"/>
              <a:ext cx="17475055" cy="692017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155490" y="2441256"/>
            <a:ext cx="1460470" cy="1460470"/>
            <a:chOff x="9155490" y="2441256"/>
            <a:chExt cx="1460470" cy="146047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60000">
              <a:off x="9155490" y="2441256"/>
              <a:ext cx="1460470" cy="146047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38095" y="1029757"/>
            <a:ext cx="6512301" cy="5807299"/>
            <a:chOff x="1238095" y="1029757"/>
            <a:chExt cx="6512301" cy="580729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8095" y="1029757"/>
              <a:ext cx="6512301" cy="580729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197275" y="7951771"/>
            <a:ext cx="2553121" cy="2553121"/>
            <a:chOff x="5197275" y="7951771"/>
            <a:chExt cx="2553121" cy="255312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7275" y="7951771"/>
              <a:ext cx="2553121" cy="255312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058070" y="5142857"/>
            <a:ext cx="1251723" cy="1251723"/>
            <a:chOff x="10058070" y="5142857"/>
            <a:chExt cx="1251723" cy="125172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58070" y="5142857"/>
              <a:ext cx="1251723" cy="125172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36033" y="5142857"/>
            <a:ext cx="1277702" cy="1277702"/>
            <a:chOff x="8636033" y="5142857"/>
            <a:chExt cx="1277702" cy="127770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6033" y="5142857"/>
              <a:ext cx="1277702" cy="127770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8411644" y="7814513"/>
            <a:ext cx="3085714" cy="3085714"/>
            <a:chOff x="8411644" y="7814513"/>
            <a:chExt cx="3085714" cy="308571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11644" y="7814513"/>
              <a:ext cx="3085714" cy="308571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238095" y="1029757"/>
            <a:ext cx="15809524" cy="14286"/>
            <a:chOff x="1238095" y="1029757"/>
            <a:chExt cx="15809524" cy="14286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095" y="1029757"/>
              <a:ext cx="15809524" cy="1428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289350" y="1139048"/>
            <a:ext cx="20188124" cy="1066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경고음 발생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10594391" y="2130893"/>
            <a:ext cx="5532091" cy="21954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900" kern="0" spc="-100" dirty="0" err="1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졸음</a:t>
            </a:r>
            <a:r>
              <a:rPr lang="en-US" sz="3900" kern="0" spc="-100" dirty="0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 </a:t>
            </a:r>
            <a:r>
              <a:rPr lang="en-US" sz="3900" kern="0" spc="-100" dirty="0" err="1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운전</a:t>
            </a:r>
            <a:r>
              <a:rPr lang="en-US" sz="3900" kern="0" spc="-100" dirty="0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 </a:t>
            </a:r>
            <a:r>
              <a:rPr lang="en-US" sz="3900" kern="0" spc="-100" dirty="0" err="1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감지</a:t>
            </a:r>
            <a:r>
              <a:rPr lang="en-US" sz="3900" kern="0" spc="-100" dirty="0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!!</a:t>
            </a:r>
          </a:p>
          <a:p>
            <a:pPr algn="ctr"/>
            <a:r>
              <a:rPr lang="en-US" sz="3900" kern="0" spc="-100" dirty="0" err="1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졸음</a:t>
            </a:r>
            <a:r>
              <a:rPr lang="en-US" sz="3900" kern="0" spc="-100" dirty="0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 </a:t>
            </a:r>
            <a:r>
              <a:rPr lang="en-US" sz="3900" kern="0" spc="-100" dirty="0" err="1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운전</a:t>
            </a:r>
            <a:r>
              <a:rPr lang="en-US" sz="3900" kern="0" spc="-100" dirty="0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 </a:t>
            </a:r>
            <a:r>
              <a:rPr lang="en-US" sz="3900" kern="0" spc="-100" dirty="0" err="1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감지</a:t>
            </a:r>
            <a:r>
              <a:rPr lang="en-US" sz="3900" kern="0" spc="-100" dirty="0">
                <a:solidFill>
                  <a:srgbClr val="FC5230"/>
                </a:solidFill>
                <a:latin typeface="Noto Sans CJK KR Bold" pitchFamily="34" charset="0"/>
                <a:cs typeface="Noto Sans CJK KR Bold" pitchFamily="34" charset="0"/>
              </a:rPr>
              <a:t>!!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495088" y="4581795"/>
            <a:ext cx="1998316" cy="1998316"/>
            <a:chOff x="3495088" y="4581795"/>
            <a:chExt cx="1998316" cy="199831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5088" y="4581795"/>
              <a:ext cx="1998316" cy="199831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38095" y="1029757"/>
            <a:ext cx="6512301" cy="5807299"/>
            <a:chOff x="1238095" y="1029757"/>
            <a:chExt cx="6512301" cy="580729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095" y="1029757"/>
              <a:ext cx="6512301" cy="580729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00000" y="3376970"/>
            <a:ext cx="17475055" cy="6920174"/>
            <a:chOff x="1200000" y="3376970"/>
            <a:chExt cx="17475055" cy="692017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0000" y="3376970"/>
              <a:ext cx="17475055" cy="692017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197275" y="7951771"/>
            <a:ext cx="2553121" cy="2553121"/>
            <a:chOff x="5197275" y="7951771"/>
            <a:chExt cx="2553121" cy="255312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7275" y="7951771"/>
              <a:ext cx="2553121" cy="255312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411644" y="7814513"/>
            <a:ext cx="3085714" cy="3085714"/>
            <a:chOff x="8411644" y="7814513"/>
            <a:chExt cx="3085714" cy="3085714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1644" y="7814513"/>
              <a:ext cx="3085714" cy="308571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838588" y="5017572"/>
            <a:ext cx="1738270" cy="1829160"/>
            <a:chOff x="9838588" y="5017572"/>
            <a:chExt cx="1738270" cy="182916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38588" y="5017572"/>
              <a:ext cx="1738270" cy="182916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330019" y="4952381"/>
            <a:ext cx="1862173" cy="1959541"/>
            <a:chOff x="8330019" y="4952381"/>
            <a:chExt cx="1862173" cy="195954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30019" y="4952381"/>
              <a:ext cx="1862173" cy="19595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그룹 1002"/>
          <p:cNvGrpSpPr/>
          <p:nvPr/>
        </p:nvGrpSpPr>
        <p:grpSpPr>
          <a:xfrm>
            <a:off x="1238095" y="2289491"/>
            <a:ext cx="15809524" cy="14286"/>
            <a:chOff x="1238095" y="2289491"/>
            <a:chExt cx="15809524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666667" y="7082815"/>
            <a:ext cx="3266667" cy="1270416"/>
            <a:chOff x="1666667" y="6662473"/>
            <a:chExt cx="3266667" cy="127041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667" y="6662473"/>
              <a:ext cx="3266667" cy="127041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019047" y="7082815"/>
            <a:ext cx="3986931" cy="1640443"/>
            <a:chOff x="7019048" y="6662473"/>
            <a:chExt cx="3685714" cy="164044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9048" y="6662473"/>
              <a:ext cx="3685714" cy="16404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078808" y="3076563"/>
            <a:ext cx="2199627" cy="2199627"/>
            <a:chOff x="2078808" y="3076563"/>
            <a:chExt cx="2199627" cy="2199627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8808" y="3076563"/>
              <a:ext cx="2199627" cy="219962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7675562" y="2905135"/>
            <a:ext cx="2258400" cy="2746326"/>
            <a:chOff x="7675562" y="2905135"/>
            <a:chExt cx="2258400" cy="274632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75562" y="2905135"/>
              <a:ext cx="2258400" cy="274632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3026719" y="2962278"/>
            <a:ext cx="2369718" cy="2369718"/>
            <a:chOff x="13026719" y="2962278"/>
            <a:chExt cx="2369718" cy="2369718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26719" y="2962278"/>
              <a:ext cx="2369718" cy="2369718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694982" y="7082815"/>
            <a:ext cx="3777985" cy="1621395"/>
            <a:chOff x="12694982" y="6662473"/>
            <a:chExt cx="3725483" cy="1621395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94982" y="6662473"/>
              <a:ext cx="3725483" cy="162139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238095" y="1245204"/>
            <a:ext cx="12200000" cy="1066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kern="0" spc="-1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기대효과</a:t>
            </a:r>
            <a:endParaRPr lang="en-US" dirty="0"/>
          </a:p>
        </p:txBody>
      </p:sp>
      <p:sp>
        <p:nvSpPr>
          <p:cNvPr id="28" name="Object 28"/>
          <p:cNvSpPr txBox="1"/>
          <p:nvPr/>
        </p:nvSpPr>
        <p:spPr>
          <a:xfrm>
            <a:off x="1974882" y="7169828"/>
            <a:ext cx="2988870" cy="10963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졸음운전으로 인한 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 재산 피해 예방</a:t>
            </a:r>
            <a:endParaRPr lang="en-US" sz="2300" dirty="0"/>
          </a:p>
        </p:txBody>
      </p:sp>
      <p:sp>
        <p:nvSpPr>
          <p:cNvPr id="29" name="Object 29"/>
          <p:cNvSpPr txBox="1"/>
          <p:nvPr/>
        </p:nvSpPr>
        <p:spPr>
          <a:xfrm>
            <a:off x="1524000" y="5898922"/>
            <a:ext cx="3689640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5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       </a:t>
            </a:r>
            <a:r>
              <a:rPr lang="en-US" sz="2500" b="1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경제적 효과</a:t>
            </a:r>
            <a:endParaRPr lang="en-US" b="1" dirty="0"/>
          </a:p>
        </p:txBody>
      </p:sp>
      <p:sp>
        <p:nvSpPr>
          <p:cNvPr id="30" name="Object 30"/>
          <p:cNvSpPr txBox="1"/>
          <p:nvPr/>
        </p:nvSpPr>
        <p:spPr>
          <a:xfrm>
            <a:off x="7011093" y="7067624"/>
            <a:ext cx="4266507" cy="19620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보행자와 주변 차량 피해 감소 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 및 졸음운전으로 인한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 사고 예방</a:t>
            </a:r>
            <a:r>
              <a:rPr lang="en-US" sz="2300" b="1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 </a:t>
            </a:r>
          </a:p>
          <a:p>
            <a:endParaRPr lang="en-US" dirty="0"/>
          </a:p>
        </p:txBody>
      </p:sp>
      <p:sp>
        <p:nvSpPr>
          <p:cNvPr id="31" name="Object 31"/>
          <p:cNvSpPr txBox="1"/>
          <p:nvPr/>
        </p:nvSpPr>
        <p:spPr>
          <a:xfrm>
            <a:off x="7675562" y="5898924"/>
            <a:ext cx="3689640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500" b="1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교통사고 감소</a:t>
            </a:r>
            <a:endParaRPr lang="en-US" b="1" dirty="0"/>
          </a:p>
        </p:txBody>
      </p:sp>
      <p:sp>
        <p:nvSpPr>
          <p:cNvPr id="32" name="Object 32"/>
          <p:cNvSpPr txBox="1"/>
          <p:nvPr/>
        </p:nvSpPr>
        <p:spPr>
          <a:xfrm>
            <a:off x="13106400" y="5885646"/>
            <a:ext cx="3689640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500" b="1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사회적 안전 증가</a:t>
            </a:r>
            <a:endParaRPr lang="en-US" b="1" dirty="0"/>
          </a:p>
        </p:txBody>
      </p:sp>
      <p:sp>
        <p:nvSpPr>
          <p:cNvPr id="33" name="Object 33"/>
          <p:cNvSpPr txBox="1"/>
          <p:nvPr/>
        </p:nvSpPr>
        <p:spPr>
          <a:xfrm>
            <a:off x="12725400" y="7040365"/>
            <a:ext cx="3962400" cy="19620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졸음방지 시스템이 적용된 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운전 환경으로 안전한 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도로환경 조성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37202" y="2061767"/>
            <a:ext cx="3906548" cy="2704533"/>
            <a:chOff x="1437202" y="2061767"/>
            <a:chExt cx="3906548" cy="270453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7202" y="2061767"/>
              <a:ext cx="3906548" cy="270453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290957" y="1793148"/>
            <a:ext cx="4260943" cy="2973153"/>
            <a:chOff x="7290957" y="1793148"/>
            <a:chExt cx="4260943" cy="297315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0957" y="1793148"/>
              <a:ext cx="4260943" cy="297315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281900" y="1461408"/>
            <a:ext cx="3304892" cy="3304892"/>
            <a:chOff x="13281900" y="1461408"/>
            <a:chExt cx="3304892" cy="330489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81900" y="1461408"/>
              <a:ext cx="3304892" cy="330489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342156" y="5958986"/>
            <a:ext cx="3783188" cy="2929415"/>
            <a:chOff x="9342156" y="5958986"/>
            <a:chExt cx="3783188" cy="292941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56" y="5958986"/>
              <a:ext cx="3783188" cy="292941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437202" y="6381114"/>
            <a:ext cx="1908122" cy="2047063"/>
            <a:chOff x="1437202" y="6381114"/>
            <a:chExt cx="1908122" cy="204706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7202" y="6381114"/>
              <a:ext cx="1908122" cy="204706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144643" y="5517750"/>
            <a:ext cx="3623826" cy="3623826"/>
            <a:chOff x="5144643" y="5517750"/>
            <a:chExt cx="3623826" cy="362382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4643" y="5517750"/>
              <a:ext cx="3623826" cy="362382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37202" y="571500"/>
            <a:ext cx="6457143" cy="9657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Pretendard" pitchFamily="34" charset="0"/>
                <a:cs typeface="Pretendard" pitchFamily="34" charset="0"/>
              </a:rPr>
              <a:t>준비물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2297619" y="5010916"/>
            <a:ext cx="2071429" cy="783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아두이노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8306442" y="4974681"/>
            <a:ext cx="2071429" cy="783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서브모터</a:t>
            </a:r>
            <a:endParaRPr lang="en-US" dirty="0"/>
          </a:p>
        </p:txBody>
      </p:sp>
      <p:sp>
        <p:nvSpPr>
          <p:cNvPr id="23" name="Object 23"/>
          <p:cNvSpPr txBox="1"/>
          <p:nvPr/>
        </p:nvSpPr>
        <p:spPr>
          <a:xfrm>
            <a:off x="5499413" y="9010917"/>
            <a:ext cx="2228571" cy="783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진동 센서</a:t>
            </a:r>
            <a:endParaRPr lang="en-US" dirty="0"/>
          </a:p>
        </p:txBody>
      </p:sp>
      <p:sp>
        <p:nvSpPr>
          <p:cNvPr id="24" name="Object 24"/>
          <p:cNvSpPr txBox="1"/>
          <p:nvPr/>
        </p:nvSpPr>
        <p:spPr>
          <a:xfrm>
            <a:off x="1830007" y="8885673"/>
            <a:ext cx="1028571" cy="783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버튼</a:t>
            </a:r>
            <a:endParaRPr lang="en-US" dirty="0"/>
          </a:p>
        </p:txBody>
      </p:sp>
      <p:sp>
        <p:nvSpPr>
          <p:cNvPr id="25" name="Object 25"/>
          <p:cNvSpPr txBox="1"/>
          <p:nvPr/>
        </p:nvSpPr>
        <p:spPr>
          <a:xfrm>
            <a:off x="13764092" y="4989952"/>
            <a:ext cx="2228571" cy="783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부저 센서</a:t>
            </a:r>
            <a:endParaRPr lang="en-US" dirty="0"/>
          </a:p>
        </p:txBody>
      </p:sp>
      <p:sp>
        <p:nvSpPr>
          <p:cNvPr id="26" name="Object 26"/>
          <p:cNvSpPr txBox="1"/>
          <p:nvPr/>
        </p:nvSpPr>
        <p:spPr>
          <a:xfrm>
            <a:off x="13411200" y="6231910"/>
            <a:ext cx="2985714" cy="24929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6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Medium" pitchFamily="34" charset="0"/>
              </a:rPr>
              <a:t>아크릴</a:t>
            </a:r>
            <a:r>
              <a:rPr lang="en-US" sz="2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Medium" pitchFamily="34" charset="0"/>
              </a:rPr>
              <a:t> 판</a:t>
            </a:r>
          </a:p>
          <a:p>
            <a:pPr algn="ctr">
              <a:lnSpc>
                <a:spcPct val="150000"/>
              </a:lnSpc>
            </a:pPr>
            <a:r>
              <a:rPr lang="en-US" sz="2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Medium" pitchFamily="34" charset="0"/>
              </a:rPr>
              <a:t>우드락</a:t>
            </a:r>
          </a:p>
          <a:p>
            <a:pPr algn="ctr">
              <a:lnSpc>
                <a:spcPct val="150000"/>
              </a:lnSpc>
            </a:pPr>
            <a:r>
              <a:rPr lang="en-US" sz="2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Medium" pitchFamily="34" charset="0"/>
              </a:rPr>
              <a:t>3D 필라멘트</a:t>
            </a:r>
          </a:p>
          <a:p>
            <a:pPr algn="ctr">
              <a:lnSpc>
                <a:spcPct val="150000"/>
              </a:lnSpc>
            </a:pPr>
            <a:r>
              <a:rPr lang="en-US" sz="2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 Medium" pitchFamily="34" charset="0"/>
              </a:rPr>
              <a:t>우드락 본드</a:t>
            </a:r>
            <a:endParaRPr lang="en-US" sz="2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59043" y="9010914"/>
            <a:ext cx="1557143" cy="783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카메라</a:t>
            </a:r>
            <a:endParaRPr lang="en-US" dirty="0"/>
          </a:p>
        </p:txBody>
      </p:sp>
      <p:grpSp>
        <p:nvGrpSpPr>
          <p:cNvPr id="28" name="그룹 1002"/>
          <p:cNvGrpSpPr/>
          <p:nvPr/>
        </p:nvGrpSpPr>
        <p:grpSpPr>
          <a:xfrm>
            <a:off x="1143000" y="1591757"/>
            <a:ext cx="15809524" cy="14286"/>
            <a:chOff x="1238095" y="2289491"/>
            <a:chExt cx="15809524" cy="14286"/>
          </a:xfrm>
        </p:grpSpPr>
        <p:pic>
          <p:nvPicPr>
            <p:cNvPr id="29" name="Object 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8095" y="2289491"/>
              <a:ext cx="15809524" cy="142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07143" y="4259082"/>
            <a:ext cx="7271429" cy="1767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kern="0" spc="-100" dirty="0">
                <a:solidFill>
                  <a:srgbClr val="000000"/>
                </a:solidFill>
                <a:latin typeface="Noto Sans CJK KR Bold" pitchFamily="34" charset="0"/>
                <a:cs typeface="Noto Sans CJK KR Bold" pitchFamily="34" charset="0"/>
              </a:rPr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171</Words>
  <Application>Microsoft Office PowerPoint</Application>
  <PresentationFormat>사용자 지정</PresentationFormat>
  <Paragraphs>89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Gmarket Sans Bold</vt:lpstr>
      <vt:lpstr>locus_sangsang</vt:lpstr>
      <vt:lpstr>Noto Sans CJK KR Bold</vt:lpstr>
      <vt:lpstr>Noto Sans CJK KR Regular</vt:lpstr>
      <vt:lpstr>Pretendard</vt:lpstr>
      <vt:lpstr>Pretendard SemiBold</vt:lpstr>
      <vt:lpstr>S-Core Dream 8 Heavy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성현 김</cp:lastModifiedBy>
  <cp:revision>4</cp:revision>
  <dcterms:created xsi:type="dcterms:W3CDTF">2024-04-17T18:52:12Z</dcterms:created>
  <dcterms:modified xsi:type="dcterms:W3CDTF">2024-10-23T10:05:49Z</dcterms:modified>
</cp:coreProperties>
</file>